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E6EDF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E6EDF3"/>
                </a:solidFill>
                <a:latin typeface="Calibri"/>
              </a:rPr>
              <a:t>Infiltration forecast F1 by horizon step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Logistic regression (static)</c:v>
                </c:pt>
              </c:strCache>
            </c:strRef>
          </c:tx>
          <c:spPr>
            <a:solidFill>
              <a:srgbClr val="5B677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Step 1</c:v>
                  </c:pt>
                  <c:pt idx="1">
                    <c:v>Step 2</c:v>
                  </c:pt>
                  <c:pt idx="2">
                    <c:v>Step 3</c:v>
                  </c:pt>
                  <c:pt idx="3">
                    <c:v>Step 4</c:v>
                  </c:pt>
                  <c:pt idx="4">
                    <c:v>Step 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0.9023</c:v>
                </c:pt>
                <c:pt idx="1">
                  <c:v>0.8989</c:v>
                </c:pt>
                <c:pt idx="2">
                  <c:v>0.8934</c:v>
                </c:pt>
                <c:pt idx="3">
                  <c:v>0.8811</c:v>
                </c:pt>
                <c:pt idx="4">
                  <c:v>0.8678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Logistic regression (context)</c:v>
                </c:pt>
              </c:strCache>
            </c:strRef>
          </c:tx>
          <c:spPr>
            <a:solidFill>
              <a:srgbClr val="8B98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Step 1</c:v>
                  </c:pt>
                  <c:pt idx="1">
                    <c:v>Step 2</c:v>
                  </c:pt>
                  <c:pt idx="2">
                    <c:v>Step 3</c:v>
                  </c:pt>
                  <c:pt idx="3">
                    <c:v>Step 4</c:v>
                  </c:pt>
                  <c:pt idx="4">
                    <c:v>Step 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0.9375</c:v>
                </c:pt>
                <c:pt idx="1">
                  <c:v>0.9179</c:v>
                </c:pt>
                <c:pt idx="2">
                  <c:v>0.9013</c:v>
                </c:pt>
                <c:pt idx="3">
                  <c:v>0.8842</c:v>
                </c:pt>
                <c:pt idx="4">
                  <c:v>0.8684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ATDRPS world model</c:v>
                </c:pt>
              </c:strCache>
            </c:strRef>
          </c:tx>
          <c:spPr>
            <a:solidFill>
              <a:srgbClr val="4DA3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Step 1</c:v>
                  </c:pt>
                  <c:pt idx="1">
                    <c:v>Step 2</c:v>
                  </c:pt>
                  <c:pt idx="2">
                    <c:v>Step 3</c:v>
                  </c:pt>
                  <c:pt idx="3">
                    <c:v>Step 4</c:v>
                  </c:pt>
                  <c:pt idx="4">
                    <c:v>Step 5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0.9562</c:v>
                </c:pt>
                <c:pt idx="1">
                  <c:v>0.9435</c:v>
                </c:pt>
                <c:pt idx="2">
                  <c:v>0.9312</c:v>
                </c:pt>
                <c:pt idx="3">
                  <c:v>0.9175</c:v>
                </c:pt>
                <c:pt idx="4">
                  <c:v>0.9049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B98A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.8"/>
        </c:scaling>
        <c:delete val="0"/>
        <c:axPos val="l"/>
        <c:majorGridlines>
          <c:spPr>
            <a:ln w="12700" cap="flat">
              <a:solidFill>
                <a:srgbClr val="24324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B98A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B0F14"/>
        </a:solidFill>
        <a:ln w="12700" cap="flat">
          <a:solidFill>
            <a:srgbClr val="243244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8B98A8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151C26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conventional IDS classifies one flow at a time and throws away time. Infiltration is a process, not a packet. ATDRPS models how network state evolves and forecasts forward.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problem statement asks for flow and packet features combined. This is where they are combined, and the table shows the separation each level buys.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Residual dynamics. Found by building the dashboard and looking at a real forecast, not by a unit test. Halved the false positive rate.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model sees identical sequences, splits and features. Thresholds chosen on validation and applied unchanged to test.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Explainability is mandatory in the problem statement. The offline constraint is what drove us to implement the pcap parser and KernelSHAP ourselves.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777240"/>
            <a:ext cx="6949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6ED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ATDRPS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27632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DA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Threat Detection and Reinforcement Protocol System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993392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world model for network attack forecasting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697480"/>
            <a:ext cx="5074920" cy="1417320"/>
          </a:xfrm>
          <a:prstGeom prst="roundRect">
            <a:avLst>
              <a:gd name="adj" fmla="val 2581"/>
            </a:avLst>
          </a:prstGeom>
          <a:solidFill>
            <a:srgbClr val="151C26"/>
          </a:solidFill>
          <a:ln w="12700">
            <a:solidFill>
              <a:srgbClr val="24324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285292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IDS asks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15468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8B98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"Is this flow malicious?"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5989320" y="2697480"/>
            <a:ext cx="5623560" cy="1417320"/>
          </a:xfrm>
          <a:prstGeom prst="roundRect">
            <a:avLst>
              <a:gd name="adj" fmla="val 2581"/>
            </a:avLst>
          </a:prstGeom>
          <a:solidFill>
            <a:srgbClr val="1B2532"/>
          </a:solidFill>
          <a:ln w="12700">
            <a:solidFill>
              <a:srgbClr val="24324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9360" y="285292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ATDRPS asks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315468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DA3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"Where is this network heading?"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34340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learns P(S t+1 | S ≤t) over network state and rolls it forward K steps — so a scan that is still only a scan can be read as a trajectory toward compromise.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5074920"/>
            <a:ext cx="2051914" cy="658368"/>
          </a:xfrm>
          <a:prstGeom prst="roundRect">
            <a:avLst>
              <a:gd name="adj" fmla="val 6944"/>
            </a:avLst>
          </a:prstGeom>
          <a:solidFill>
            <a:srgbClr val="1B2532"/>
          </a:solidFill>
          <a:ln w="22225">
            <a:solidFill>
              <a:srgbClr val="4DA3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5074920"/>
            <a:ext cx="205191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DA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2600554" y="5074920"/>
            <a:ext cx="2011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2801722" y="5074920"/>
            <a:ext cx="2051914" cy="658368"/>
          </a:xfrm>
          <a:prstGeom prst="roundRect">
            <a:avLst>
              <a:gd name="adj" fmla="val 6944"/>
            </a:avLst>
          </a:prstGeom>
          <a:solidFill>
            <a:srgbClr val="1B2532"/>
          </a:solidFill>
          <a:ln w="22225">
            <a:solidFill>
              <a:srgbClr val="D299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801722" y="5074920"/>
            <a:ext cx="205191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4853635" y="5074920"/>
            <a:ext cx="2011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054803" y="5074920"/>
            <a:ext cx="2051914" cy="658368"/>
          </a:xfrm>
          <a:prstGeom prst="roundRect">
            <a:avLst>
              <a:gd name="adj" fmla="val 6944"/>
            </a:avLst>
          </a:prstGeom>
          <a:solidFill>
            <a:srgbClr val="1B2532"/>
          </a:solidFill>
          <a:ln w="22225">
            <a:solidFill>
              <a:srgbClr val="DB6D2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054803" y="5074920"/>
            <a:ext cx="205191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B6D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Lateral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DB6D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Movement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7106717" y="5074920"/>
            <a:ext cx="2011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307885" y="5074920"/>
            <a:ext cx="2051914" cy="658368"/>
          </a:xfrm>
          <a:prstGeom prst="roundRect">
            <a:avLst>
              <a:gd name="adj" fmla="val 6944"/>
            </a:avLst>
          </a:prstGeom>
          <a:solidFill>
            <a:srgbClr val="1B2532"/>
          </a:solidFill>
          <a:ln w="22225">
            <a:solidFill>
              <a:srgbClr val="BC8C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307885" y="5074920"/>
            <a:ext cx="205191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C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BC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Control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9359798" y="5074920"/>
            <a:ext cx="2011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9560966" y="5074920"/>
            <a:ext cx="2051914" cy="658368"/>
          </a:xfrm>
          <a:prstGeom prst="roundRect">
            <a:avLst>
              <a:gd name="adj" fmla="val 6944"/>
            </a:avLst>
          </a:prstGeom>
          <a:solidFill>
            <a:srgbClr val="1B2532"/>
          </a:solidFill>
          <a:ln w="22225">
            <a:solidFill>
              <a:srgbClr val="F8514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560966" y="5074920"/>
            <a:ext cx="205191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Exfiltration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614476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7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Smart India Hackathon 2026  ·  PS 26153  ·  NTRO  ·  Team Bell Labs, Lloyd Institute of Engineering &amp; Technology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6ED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packets to a network state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42416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Dual-level features, because flow records erase exactly the evidence the hard cases need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2560320" cy="1481328"/>
          </a:xfrm>
          <a:prstGeom prst="roundRect">
            <a:avLst>
              <a:gd name="adj" fmla="val 2469"/>
            </a:avLst>
          </a:prstGeom>
          <a:solidFill>
            <a:srgbClr val="151C26"/>
          </a:solidFill>
          <a:ln w="12700">
            <a:solidFill>
              <a:srgbClr val="24324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8096" y="1819656"/>
            <a:ext cx="384048" cy="384048"/>
          </a:xfrm>
          <a:prstGeom prst="ellipse">
            <a:avLst/>
          </a:prstGeom>
          <a:solidFill>
            <a:srgbClr val="1B2532"/>
          </a:solidFill>
          <a:ln w="19050">
            <a:solidFill>
              <a:srgbClr val="4DA3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68096" y="18196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DA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61872" y="18288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PCAP / CSV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68096" y="2304288"/>
            <a:ext cx="21579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in-tree pcap + pcapng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B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parser — no scapy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127248" y="20574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3401568" y="1600200"/>
            <a:ext cx="2560320" cy="1481328"/>
          </a:xfrm>
          <a:prstGeom prst="roundRect">
            <a:avLst>
              <a:gd name="adj" fmla="val 2469"/>
            </a:avLst>
          </a:prstGeom>
          <a:solidFill>
            <a:srgbClr val="151C26"/>
          </a:solidFill>
          <a:ln w="12700">
            <a:solidFill>
              <a:srgbClr val="2432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621024" y="1819656"/>
            <a:ext cx="384048" cy="384048"/>
          </a:xfrm>
          <a:prstGeom prst="ellipse">
            <a:avLst/>
          </a:prstGeom>
          <a:solidFill>
            <a:srgbClr val="1B2532"/>
          </a:solidFill>
          <a:ln w="19050">
            <a:solidFill>
              <a:srgbClr val="4DA3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621024" y="18196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DA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114800" y="18288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Flows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3621024" y="2304288"/>
            <a:ext cx="21579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5-tuple assembly,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B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idle + active timeouts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5980176" y="20574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6254496" y="1600200"/>
            <a:ext cx="2560320" cy="1481328"/>
          </a:xfrm>
          <a:prstGeom prst="roundRect">
            <a:avLst>
              <a:gd name="adj" fmla="val 2469"/>
            </a:avLst>
          </a:prstGeom>
          <a:solidFill>
            <a:srgbClr val="151C26"/>
          </a:solidFill>
          <a:ln w="12700">
            <a:solidFill>
              <a:srgbClr val="24324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73952" y="1819656"/>
            <a:ext cx="384048" cy="384048"/>
          </a:xfrm>
          <a:prstGeom prst="ellipse">
            <a:avLst/>
          </a:prstGeom>
          <a:solidFill>
            <a:srgbClr val="1B2532"/>
          </a:solidFill>
          <a:ln w="19050">
            <a:solidFill>
              <a:srgbClr val="D2992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73952" y="18196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967728" y="18288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473952" y="2304288"/>
            <a:ext cx="21579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NetFlow aggregates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B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packet statistics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833104" y="20574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9107424" y="1600200"/>
            <a:ext cx="2560320" cy="1481328"/>
          </a:xfrm>
          <a:prstGeom prst="roundRect">
            <a:avLst>
              <a:gd name="adj" fmla="val 2469"/>
            </a:avLst>
          </a:prstGeom>
          <a:solidFill>
            <a:srgbClr val="151C26"/>
          </a:solidFill>
          <a:ln w="12700">
            <a:solidFill>
              <a:srgbClr val="24324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326880" y="1819656"/>
            <a:ext cx="384048" cy="384048"/>
          </a:xfrm>
          <a:prstGeom prst="ellipse">
            <a:avLst/>
          </a:prstGeom>
          <a:solidFill>
            <a:srgbClr val="1B2532"/>
          </a:solidFill>
          <a:ln w="19050">
            <a:solidFill>
              <a:srgbClr val="3FB95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326880" y="18196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9820656" y="18288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Sₜ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9326880" y="2304288"/>
            <a:ext cx="21579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s window →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B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96-dim vector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48640" y="3310128"/>
            <a:ext cx="5486400" cy="2999232"/>
          </a:xfrm>
          <a:prstGeom prst="roundRect">
            <a:avLst>
              <a:gd name="adj" fmla="val 1220"/>
            </a:avLst>
          </a:prstGeom>
          <a:solidFill>
            <a:srgbClr val="151C26"/>
          </a:solidFill>
          <a:ln w="12700">
            <a:solidFill>
              <a:srgbClr val="243244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68680" y="3493008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one window contains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868680" y="3840480"/>
            <a:ext cx="4846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8B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and shape (22) — rates, distinct hosts and ports, direction, concentration</a:t>
            </a:r>
            <a:endParaRPr lang="en-US" sz="11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8B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Distributional aggregates (60) — mean, spread and peak of 20 per-flow features. Spread is the signal: beacons have near-zero timing variance</a:t>
            </a:r>
            <a:endParaRPr lang="en-US" sz="11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150" dirty="0">
                <a:solidFill>
                  <a:srgbClr val="8B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Behavioural detectors (14) — ports swept per pair, beacon regularity, internal peers reached, never-before-seen destinations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355080" y="3310128"/>
            <a:ext cx="5257800" cy="2999232"/>
          </a:xfrm>
          <a:prstGeom prst="roundRect">
            <a:avLst>
              <a:gd name="adj" fmla="val 1220"/>
            </a:avLst>
          </a:prstGeom>
          <a:solidFill>
            <a:srgbClr val="151C26"/>
          </a:solidFill>
          <a:ln w="12700">
            <a:solidFill>
              <a:srgbClr val="24324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675120" y="3493008"/>
            <a:ext cx="4617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separation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6675120" y="3877056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8732520" y="3877056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B67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benign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9555480" y="3877056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B67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attack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6675120" y="416966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ports per pair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8732520" y="4169664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B9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1.3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9555480" y="4169664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4DA3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22.8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10424160" y="4169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</a:t>
            </a:r>
            <a:endParaRPr lang="en-US" sz="950" dirty="0"/>
          </a:p>
        </p:txBody>
      </p:sp>
      <p:sp>
        <p:nvSpPr>
          <p:cNvPr id="39" name="Text 37"/>
          <p:cNvSpPr txBox="1"/>
          <p:nvPr/>
        </p:nvSpPr>
        <p:spPr>
          <a:xfrm>
            <a:off x="6675120" y="45902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service share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8732520" y="459028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B9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0.00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9555480" y="459028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299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0.36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10424160" y="4590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 Access</a:t>
            </a:r>
            <a:endParaRPr lang="en-US" sz="950" dirty="0"/>
          </a:p>
        </p:txBody>
      </p:sp>
      <p:sp>
        <p:nvSpPr>
          <p:cNvPr id="43" name="Text 41"/>
          <p:cNvSpPr txBox="1"/>
          <p:nvPr/>
        </p:nvSpPr>
        <p:spPr>
          <a:xfrm>
            <a:off x="6675120" y="501091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beacon regularity</a:t>
            </a:r>
            <a:endParaRPr lang="en-US" sz="1050" dirty="0"/>
          </a:p>
        </p:txBody>
      </p:sp>
      <p:sp>
        <p:nvSpPr>
          <p:cNvPr id="44" name="Text 42"/>
          <p:cNvSpPr txBox="1"/>
          <p:nvPr/>
        </p:nvSpPr>
        <p:spPr>
          <a:xfrm>
            <a:off x="8732520" y="501091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B9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0.66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9555480" y="501091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BC8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0.92</a:t>
            </a:r>
            <a:endParaRPr lang="en-US" sz="1100" dirty="0"/>
          </a:p>
        </p:txBody>
      </p:sp>
      <p:sp>
        <p:nvSpPr>
          <p:cNvPr id="46" name="Text 44"/>
          <p:cNvSpPr txBox="1"/>
          <p:nvPr/>
        </p:nvSpPr>
        <p:spPr>
          <a:xfrm>
            <a:off x="10424160" y="501091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C2</a:t>
            </a:r>
            <a:endParaRPr lang="en-US" sz="950" dirty="0"/>
          </a:p>
        </p:txBody>
      </p:sp>
      <p:sp>
        <p:nvSpPr>
          <p:cNvPr id="47" name="Text 45"/>
          <p:cNvSpPr txBox="1"/>
          <p:nvPr/>
        </p:nvSpPr>
        <p:spPr>
          <a:xfrm>
            <a:off x="6675120" y="543153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outbound byte ratio</a:t>
            </a:r>
            <a:endParaRPr lang="en-US" sz="1050" dirty="0"/>
          </a:p>
        </p:txBody>
      </p:sp>
      <p:sp>
        <p:nvSpPr>
          <p:cNvPr id="48" name="Text 46"/>
          <p:cNvSpPr txBox="1"/>
          <p:nvPr/>
        </p:nvSpPr>
        <p:spPr>
          <a:xfrm>
            <a:off x="8732520" y="543153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B9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0.01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9555480" y="543153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851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0.52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10424160" y="543153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Exfiltration</a:t>
            </a:r>
            <a:endParaRPr lang="en-US" sz="950" dirty="0"/>
          </a:p>
        </p:txBody>
      </p:sp>
      <p:sp>
        <p:nvSpPr>
          <p:cNvPr id="51" name="Text 49"/>
          <p:cNvSpPr txBox="1"/>
          <p:nvPr/>
        </p:nvSpPr>
        <p:spPr>
          <a:xfrm>
            <a:off x="6675120" y="5815584"/>
            <a:ext cx="4617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slow scan sits under every flow-level threshold. What gives it away is constant TTL, a constant tiny window, zero payload and a walk across ports — all of which aggregation destroys.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6ED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world model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42416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encoder, three heads, and a forward simulation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4892040" cy="2788920"/>
          </a:xfrm>
          <a:prstGeom prst="roundRect">
            <a:avLst>
              <a:gd name="adj" fmla="val 1311"/>
            </a:avLst>
          </a:prstGeom>
          <a:solidFill>
            <a:srgbClr val="151C26"/>
          </a:solidFill>
          <a:ln w="12700">
            <a:solidFill>
              <a:srgbClr val="24324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737360"/>
            <a:ext cx="4251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transformer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066544"/>
            <a:ext cx="4251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7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 = 16 context windows  ·  d_model 128  ·  4 heads  ·  3 pre-norm blocks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" y="2505456"/>
            <a:ext cx="237744" cy="237744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216152" y="2450592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next-state Δ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216152" y="2688336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state changes — the dynamics target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868680" y="3054096"/>
            <a:ext cx="237744" cy="237744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216152" y="2999232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head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216152" y="3236976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MITRE ATT&amp;CK stage of the next window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68680" y="3602736"/>
            <a:ext cx="237744" cy="237744"/>
          </a:xfrm>
          <a:prstGeom prst="ellipse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216152" y="3547872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infiltration head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216152" y="3785616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probability infiltration is underway next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443984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all three together is the point. The stage head alone is a classifier with extra steps; making one representation also reconstruct the next state is what forces it to learn dynamics.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760720" y="1572768"/>
            <a:ext cx="5852160" cy="2788920"/>
          </a:xfrm>
          <a:prstGeom prst="roundRect">
            <a:avLst>
              <a:gd name="adj" fmla="val 1311"/>
            </a:avLst>
          </a:prstGeom>
          <a:solidFill>
            <a:srgbClr val="151C26"/>
          </a:solidFill>
          <a:ln w="12700">
            <a:solidFill>
              <a:srgbClr val="24324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080760" y="1737360"/>
            <a:ext cx="5212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K-step forward simulation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080760" y="2066544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 → append → re-predict.  Errors compound, and they should — a model equally confident at step 5 as step 1 is lying about what it knows.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080760" y="2670048"/>
            <a:ext cx="868680" cy="868680"/>
          </a:xfrm>
          <a:prstGeom prst="roundRect">
            <a:avLst>
              <a:gd name="adj" fmla="val 5263"/>
            </a:avLst>
          </a:prstGeom>
          <a:solidFill>
            <a:srgbClr val="1B2532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080760" y="2670048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DA3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 t+1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132320" y="2788920"/>
            <a:ext cx="868680" cy="749808"/>
          </a:xfrm>
          <a:prstGeom prst="roundRect">
            <a:avLst>
              <a:gd name="adj" fmla="val 6098"/>
            </a:avLst>
          </a:prstGeom>
          <a:solidFill>
            <a:srgbClr val="1B2532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132320" y="2788920"/>
            <a:ext cx="868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DA3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 t+2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8183880" y="2898648"/>
            <a:ext cx="868680" cy="640080"/>
          </a:xfrm>
          <a:prstGeom prst="roundRect">
            <a:avLst>
              <a:gd name="adj" fmla="val 7143"/>
            </a:avLst>
          </a:prstGeom>
          <a:solidFill>
            <a:srgbClr val="1B2532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183880" y="2898648"/>
            <a:ext cx="868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DA3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 t+3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9235440" y="3008376"/>
            <a:ext cx="868680" cy="530352"/>
          </a:xfrm>
          <a:prstGeom prst="roundRect">
            <a:avLst>
              <a:gd name="adj" fmla="val 8621"/>
            </a:avLst>
          </a:prstGeom>
          <a:solidFill>
            <a:srgbClr val="1B2532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235440" y="3008376"/>
            <a:ext cx="868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DA3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 t+4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10287000" y="3118104"/>
            <a:ext cx="868680" cy="420624"/>
          </a:xfrm>
          <a:prstGeom prst="roundRect">
            <a:avLst>
              <a:gd name="adj" fmla="val 10870"/>
            </a:avLst>
          </a:prstGeom>
          <a:solidFill>
            <a:srgbClr val="1B2532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0287000" y="3118104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DA3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 t+5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6080760" y="3611880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decays with distance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6080760" y="3858768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Predicted states are clamped to the range training data covered, so a simulation cannot wander into states no network has ever produced.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48640" y="4846320"/>
            <a:ext cx="11064240" cy="1463040"/>
          </a:xfrm>
          <a:prstGeom prst="roundRect">
            <a:avLst>
              <a:gd name="adj" fmla="val 2500"/>
            </a:avLst>
          </a:prstGeom>
          <a:solidFill>
            <a:srgbClr val="1B2532"/>
          </a:solidFill>
          <a:ln w="12700">
            <a:solidFill>
              <a:srgbClr val="243244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68680" y="4992624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 that made it work: predict the change, not the state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868680" y="5340096"/>
            <a:ext cx="10424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Regressing the absolute next state looked fine in unit tests. Rendering the first live forecast exposed it: five steps read 1.00, 0.00, 0.00, 0.99, 1.00. Ridge shrinks toward zero, so a regularised model predicts the mean state — and feeding mean states back into the context made the heads swing between extremes. Predicting S t+1 − S t makes shrinkage mean "nothing changes", which is the right prior for network state. False-positive rate fell from 0.134 to 0.071.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6ED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42416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captures — train and test share no window, no flow, no campaign. Thresholds chosen on validation.</a:t>
            </a:r>
            <a:endParaRPr lang="en-US" sz="1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572768"/>
          <a:ext cx="676656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635240" y="1572768"/>
            <a:ext cx="3977640" cy="1463040"/>
          </a:xfrm>
          <a:prstGeom prst="roundRect">
            <a:avLst>
              <a:gd name="adj" fmla="val 2500"/>
            </a:avLst>
          </a:prstGeom>
          <a:solidFill>
            <a:srgbClr val="1B2532"/>
          </a:solidFill>
          <a:ln w="12700">
            <a:solidFill>
              <a:srgbClr val="24324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909560" y="1719072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False-positive rate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7909560" y="1975104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3FB9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0.071</a:t>
            </a:r>
            <a:endParaRPr lang="en-US" sz="5200" dirty="0"/>
          </a:p>
        </p:txBody>
      </p:sp>
      <p:sp>
        <p:nvSpPr>
          <p:cNvPr id="8" name="Text 5"/>
          <p:cNvSpPr txBox="1"/>
          <p:nvPr/>
        </p:nvSpPr>
        <p:spPr>
          <a:xfrm>
            <a:off x="9829800" y="213969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0.112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B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logreg (context)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635240" y="3182112"/>
            <a:ext cx="3977640" cy="1591056"/>
          </a:xfrm>
          <a:prstGeom prst="roundRect">
            <a:avLst>
              <a:gd name="adj" fmla="val 2299"/>
            </a:avLst>
          </a:prstGeom>
          <a:solidFill>
            <a:srgbClr val="151C26"/>
          </a:solidFill>
          <a:ln w="12700">
            <a:solidFill>
              <a:srgbClr val="24324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909560" y="3328416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it really a world model?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7909560" y="3621024"/>
            <a:ext cx="3429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Next-state error against the persistence floor. A model that wins on F1 but cannot beat "assume nothing changes" has learned a classifier, not dynamics.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7909560" y="4224528"/>
            <a:ext cx="3429000" cy="219456"/>
          </a:xfrm>
          <a:prstGeom prst="roundRect">
            <a:avLst>
              <a:gd name="adj" fmla="val 41667"/>
            </a:avLst>
          </a:prstGeom>
          <a:solidFill>
            <a:srgbClr val="1B2532"/>
          </a:solidFill>
          <a:ln w="12700">
            <a:solidFill>
              <a:srgbClr val="24324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909560" y="4224528"/>
            <a:ext cx="1956816" cy="219456"/>
          </a:xfrm>
          <a:prstGeom prst="roundRect">
            <a:avLst>
              <a:gd name="adj" fmla="val 41667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909560" y="4480560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FB9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0.868  world model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9646920" y="4480560"/>
            <a:ext cx="1691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B67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1.520  persistence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548640" y="4956048"/>
            <a:ext cx="11064240" cy="1170432"/>
          </a:xfrm>
          <a:prstGeom prst="roundRect">
            <a:avLst>
              <a:gd name="adj" fmla="val 3125"/>
            </a:avLst>
          </a:prstGeom>
          <a:solidFill>
            <a:srgbClr val="151C26"/>
          </a:solidFill>
          <a:ln w="12700">
            <a:solidFill>
              <a:srgbClr val="243244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68680" y="5102352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DA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margin widens the further ahead it forecasts — which is the whole claim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868680" y="5413248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one window ahead the world model beats the strongest logistic baseline by 0.019 F1. At five windows ahead the gap is 0.037, and the false-positive rate gap is 0.183 against 0.233. A static classifier has nothing to extrapolate from; a learned transition model does. Verified end to end on an unseen capture: 80% exact stage match and the Recon → Initial Access → Lateral Movement ordering recovered, including the slow scan.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6ED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Explainable, and it runs in an air-gapped network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42416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are requirements, not features — and both shaped what we were willing to depend on</a:t>
            </a:r>
            <a:endParaRPr lang="en-US" sz="1400" dirty="0"/>
          </a:p>
        </p:txBody>
      </p:sp>
      <p:pic>
        <p:nvPicPr>
          <p:cNvPr id="4" name="Image 0" descr="/tmp/deck/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72768"/>
            <a:ext cx="6035040" cy="424281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72768"/>
            <a:ext cx="6035040" cy="4242816"/>
          </a:xfrm>
          <a:prstGeom prst="roundRect">
            <a:avLst>
              <a:gd name="adj" fmla="val 647"/>
            </a:avLst>
          </a:prstGeom>
          <a:solidFill>
            <a:srgbClr val="0B0F14">
              <a:alpha val="0"/>
            </a:srgbClr>
          </a:solidFill>
          <a:ln w="12700">
            <a:solidFill>
              <a:srgbClr val="24324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5870448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offline dashboard: risk timeline, forward simulation, Shapley drivers and the flows behind the peak window. 79,485 packets to rendered result in 3.9 seconds.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6903720" y="1572768"/>
            <a:ext cx="4709160" cy="1298448"/>
          </a:xfrm>
          <a:prstGeom prst="roundRect">
            <a:avLst>
              <a:gd name="adj" fmla="val 2817"/>
            </a:avLst>
          </a:prstGeom>
          <a:solidFill>
            <a:srgbClr val="151C26"/>
          </a:solidFill>
          <a:ln w="12700">
            <a:solidFill>
              <a:srgbClr val="24324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178040" y="1801368"/>
            <a:ext cx="219456" cy="219456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552944" y="1746504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drove it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7178040" y="2103120"/>
            <a:ext cx="4206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Grouped KernelSHAP over the 96 features — written in-tree, verified against closed-form Shapley values to 1.2e-05. Reported in plain language: "share of traffic to remote-access services +0.216".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6903720" y="3035808"/>
            <a:ext cx="4709160" cy="1298448"/>
          </a:xfrm>
          <a:prstGeom prst="roundRect">
            <a:avLst>
              <a:gd name="adj" fmla="val 2817"/>
            </a:avLst>
          </a:prstGeom>
          <a:solidFill>
            <a:srgbClr val="151C26"/>
          </a:solidFill>
          <a:ln w="12700">
            <a:solidFill>
              <a:srgbClr val="24324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178040" y="3264408"/>
            <a:ext cx="219456" cy="219456"/>
          </a:xfrm>
          <a:prstGeom prst="ellipse">
            <a:avLst/>
          </a:prstGeom>
          <a:solidFill>
            <a:srgbClr val="BC8CFF"/>
          </a:solidFill>
          <a:ln w="12700">
            <a:solidFill>
              <a:srgbClr val="BC8C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552944" y="3209544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C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it came from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7178040" y="3566160"/>
            <a:ext cx="4206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 across the 16 context windows, with model-agnostic occlusion as a cross-check — so every backend is explainable, not just the transformer.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6903720" y="4498848"/>
            <a:ext cx="4709160" cy="1298448"/>
          </a:xfrm>
          <a:prstGeom prst="roundRect">
            <a:avLst>
              <a:gd name="adj" fmla="val 2817"/>
            </a:avLst>
          </a:prstGeom>
          <a:solidFill>
            <a:srgbClr val="151C26"/>
          </a:solidFill>
          <a:ln w="12700">
            <a:solidFill>
              <a:srgbClr val="243244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178040" y="4727448"/>
            <a:ext cx="219456" cy="219456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552944" y="4672584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 scapy, no shap</a:t>
            </a:r>
            <a:endParaRPr 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7178040" y="5029200"/>
            <a:ext cx="4206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CII networks are air-gapped. ATDRPS ships its own pcap/pcapng parser and its own KernelSHAP, so there is one less supply chain to vet and patch. No cloud API, no telemetry, no runtime download.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6903720" y="5961888"/>
            <a:ext cx="4709160" cy="475488"/>
          </a:xfrm>
          <a:prstGeom prst="roundRect">
            <a:avLst>
              <a:gd name="adj" fmla="val 7692"/>
            </a:avLst>
          </a:prstGeom>
          <a:solidFill>
            <a:srgbClr val="1B2532"/>
          </a:solidFill>
          <a:ln w="12700">
            <a:solidFill>
              <a:srgbClr val="243244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178040" y="5961888"/>
            <a:ext cx="4206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215 tests · standard library only · MIT licensed · reproducible from (config, dataset, seed)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2026-09-15T12:06:43Z</dcterms:created>
  <dcterms:modified xsi:type="dcterms:W3CDTF">2026-09-15T12:06:43Z</dcterms:modified>
</cp:coreProperties>
</file>